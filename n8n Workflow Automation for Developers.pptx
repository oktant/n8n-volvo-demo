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9"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866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talk: first what n8n is and why it suits developers, then a real workflow I built, a daily tech-news digest, and what I learned building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sits in the same space as Zapier or Make, but it is built with developers in mind. The key point: everything is visible. You can open any node and see exactly what came in and what went 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words cover most of n8n. Items are the important one: every node receives a list of JSON items and outputs a list of items. Expressions in double curly braces let you reference data from earlier nodes in any field.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separates n8n from no-code tools: you are never stuck. If there is no node for something, you call the API directly or write a few lines of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real workflow. The goal: one email each morning with the ten most relevant stories for a developer interested in AI, Docker, security and open 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The top row collects and ranks; the bottom row, read right to left, decides, summarizes and sends. Error branches are left out here and covered two slides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APIs give us popularity data, RSS feeds do not. That difference is why the ranking needed rethinking. Reddit and Ars Technica both returned 503 or blocked responses from the server, so they were replaced.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just sorted by Hacker News upvotes, with every RSS story stuck at a fixed 100. Now every factor works for every source. Buzz is the smart part: if three outlets cover the same story, it is probably important. Titles are matched by shared words and merged into one entry.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top row: relevant keywords, fresh, decently popular, and covered by three sources. The buzz factor more than doubles its score.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let the model write the whole email. A reasoning model then dumped its thinking into the email and got cut off mid-URL. Now the model only picks and summarizes; the Code node finds the JSON, maps ids back to stories and builds the email itself.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for questions. Offer to share the workflow 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1127652"/>
            <a:ext cx="10566446" cy="502922"/>
          </a:xfrm>
          <a:prstGeom prst="rect">
            <a:avLst/>
          </a:prstGeom>
          <a:noFill/>
          <a:ln/>
        </p:spPr>
        <p:txBody>
          <a:bodyPr wrap="square" lIns="0" tIns="0" rIns="0" bIns="0" rtlCol="0" anchor="t"/>
          <a:lstStyle>
            <a:lvl1pPr marL="0" indent="0" algn="l">
              <a:lnSpc>
                <a:spcPct val="115000"/>
              </a:lnSpc>
              <a:buNone/>
              <a:defRPr lang="en-US" sz="3600" dirty="0">
                <a:solidFill>
                  <a:srgbClr val="16181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77" y="1935374"/>
            <a:ext cx="10566423" cy="4109826"/>
          </a:xfrm>
          <a:prstGeom prst="rect">
            <a:avLst/>
          </a:prstGeom>
          <a:noFill/>
          <a:ln/>
        </p:spPr>
        <p:txBody>
          <a:bodyPr wrap="square" lIns="0" tIns="0" rIns="0" bIns="0" rtlCol="0" anchor="t"/>
          <a:lstStyle>
            <a:lvl1pPr marL="0" indent="0" algn="l">
              <a:lnSpc>
                <a:spcPct val="140000"/>
              </a:lnSpc>
              <a:buNone/>
              <a:defRPr lang="en-US" sz="1600" dirty="0">
                <a:solidFill>
                  <a:srgbClr val="16181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1127652"/>
            <a:ext cx="10566446" cy="502922"/>
          </a:xfrm>
          <a:prstGeom prst="rect">
            <a:avLst/>
          </a:prstGeom>
          <a:noFill/>
          <a:ln/>
        </p:spPr>
        <p:txBody>
          <a:bodyPr wrap="square" lIns="0" tIns="0" rIns="0" bIns="0" rtlCol="0" anchor="t"/>
          <a:lstStyle>
            <a:lvl1pPr marL="0" indent="0" algn="l">
              <a:lnSpc>
                <a:spcPct val="115000"/>
              </a:lnSpc>
              <a:buNone/>
              <a:defRPr lang="en-US" sz="3600" dirty="0">
                <a:solidFill>
                  <a:srgbClr val="16181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77" y="1935374"/>
            <a:ext cx="10566423" cy="4109826"/>
          </a:xfrm>
          <a:prstGeom prst="rect">
            <a:avLst/>
          </a:prstGeom>
          <a:noFill/>
          <a:ln/>
        </p:spPr>
        <p:txBody>
          <a:bodyPr wrap="square" lIns="0" tIns="0" rIns="0" bIns="0" rtlCol="0" anchor="t"/>
          <a:lstStyle>
            <a:lvl1pPr marL="0" indent="0" algn="l">
              <a:lnSpc>
                <a:spcPct val="140000"/>
              </a:lnSpc>
              <a:buNone/>
              <a:defRPr lang="en-US" sz="1600" dirty="0">
                <a:solidFill>
                  <a:srgbClr val="16181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EA4B71"/>
                </a:solidFill>
                <a:latin typeface="JetBrains Mono" pitchFamily="49" charset="0"/>
                <a:ea typeface="JetBrains Mono" pitchFamily="49" charset="-122"/>
                <a:cs typeface="JetBrains Mono" pitchFamily="49" charset="-120"/>
              </a:rPr>
              <a:t>WORKFLOW AUTOMATION</a:t>
            </a:r>
            <a:endParaRPr lang="en-US" sz="1200" dirty="0"/>
          </a:p>
        </p:txBody>
      </p:sp>
      <p:sp>
        <p:nvSpPr>
          <p:cNvPr id="3" name="Text 1"/>
          <p:cNvSpPr>
            <a:spLocks noGrp="1"/>
          </p:cNvSpPr>
          <p:nvPr>
            <p:ph type="title"/>
          </p:nvPr>
        </p:nvSpPr>
        <p:spPr>
          <a:xfrm>
            <a:off x="812777" y="2710248"/>
            <a:ext cx="10883439" cy="825453"/>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IBM Plex Sans" pitchFamily="34" charset="0"/>
                <a:ea typeface="IBM Plex Sans" pitchFamily="34" charset="-122"/>
                <a:cs typeface="IBM Plex Sans" pitchFamily="34" charset="-120"/>
              </a:rPr>
              <a:t>n8n for developers</a:t>
            </a:r>
            <a:endParaRPr lang="en-US" sz="6000" dirty="0"/>
          </a:p>
        </p:txBody>
      </p:sp>
      <p:sp>
        <p:nvSpPr>
          <p:cNvPr id="4" name="Text 2"/>
          <p:cNvSpPr/>
          <p:nvPr/>
        </p:nvSpPr>
        <p:spPr>
          <a:xfrm>
            <a:off x="812777" y="3713466"/>
            <a:ext cx="10883439" cy="388599"/>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3C7D1"/>
                </a:solidFill>
                <a:latin typeface="IBM Plex Sans" pitchFamily="34" charset="0"/>
                <a:ea typeface="IBM Plex Sans" pitchFamily="34" charset="-122"/>
                <a:cs typeface="IBM Plex Sans" pitchFamily="34" charset="-120"/>
              </a:rPr>
              <a:t>From the basics to a real workflow: a daily tech-news digest</a:t>
            </a:r>
            <a:endParaRPr lang="en-US" sz="2200" dirty="0"/>
          </a:p>
        </p:txBody>
      </p:sp>
      <p:sp>
        <p:nvSpPr>
          <p:cNvPr id="5" name="Text 3"/>
          <p:cNvSpPr/>
          <p:nvPr/>
        </p:nvSpPr>
        <p:spPr>
          <a:xfrm>
            <a:off x="812777" y="5760757"/>
            <a:ext cx="10883439" cy="30986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3C7D1"/>
                </a:solidFill>
                <a:latin typeface="IBM Plex Sans" pitchFamily="34" charset="0"/>
                <a:ea typeface="IBM Plex Sans" pitchFamily="34" charset="-122"/>
                <a:cs typeface="IBM Plex Sans" pitchFamily="34" charset="-120"/>
              </a:rPr>
              <a:t>Oktay Alizada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BASICS</a:t>
            </a:r>
            <a:endParaRPr lang="en-US" sz="1200" dirty="0"/>
          </a:p>
        </p:txBody>
      </p:sp>
      <p:sp>
        <p:nvSpPr>
          <p:cNvPr id="3" name="Text 1"/>
          <p:cNvSpPr>
            <a:spLocks noGrp="1"/>
          </p:cNvSpPr>
          <p:nvPr>
            <p:ph type="title"/>
          </p:nvPr>
        </p:nvSpPr>
        <p:spPr>
          <a:xfrm>
            <a:off x="812777" y="1127651"/>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What n8n is</a:t>
            </a:r>
            <a:endParaRPr lang="en-US" sz="3600" dirty="0"/>
          </a:p>
        </p:txBody>
      </p:sp>
      <p:sp>
        <p:nvSpPr>
          <p:cNvPr id="4" name="Text 2"/>
          <p:cNvSpPr/>
          <p:nvPr/>
        </p:nvSpPr>
        <p:spPr>
          <a:xfrm>
            <a:off x="812777" y="1986126"/>
            <a:ext cx="10883439" cy="751798"/>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6181D"/>
                </a:solidFill>
                <a:latin typeface="IBM Plex Sans" pitchFamily="34" charset="0"/>
                <a:ea typeface="IBM Plex Sans" pitchFamily="34" charset="-122"/>
                <a:cs typeface="IBM Plex Sans" pitchFamily="34" charset="-120"/>
              </a:rPr>
              <a:t>A workflow automation tool: you connect nodes on a canvas, and each run passes data from one step to the next.</a:t>
            </a:r>
            <a:endParaRPr lang="en-US" sz="2200" dirty="0"/>
          </a:p>
        </p:txBody>
      </p:sp>
      <p:sp>
        <p:nvSpPr>
          <p:cNvPr id="5" name="Shape 3"/>
          <p:cNvSpPr/>
          <p:nvPr/>
        </p:nvSpPr>
        <p:spPr>
          <a:xfrm>
            <a:off x="819127" y="3074427"/>
            <a:ext cx="3373986"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6" name="Text 4"/>
          <p:cNvSpPr/>
          <p:nvPr/>
        </p:nvSpPr>
        <p:spPr>
          <a:xfrm>
            <a:off x="1052536" y="3307837"/>
            <a:ext cx="2994383"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Visual workflows</a:t>
            </a:r>
            <a:endParaRPr lang="en-US" sz="1600" dirty="0"/>
          </a:p>
        </p:txBody>
      </p:sp>
      <p:sp>
        <p:nvSpPr>
          <p:cNvPr id="7" name="Text 5"/>
          <p:cNvSpPr/>
          <p:nvPr/>
        </p:nvSpPr>
        <p:spPr>
          <a:xfrm>
            <a:off x="1052536" y="3627846"/>
            <a:ext cx="29943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Build flows by </a:t>
            </a:r>
            <a:r>
              <a:rPr lang="en-US" sz="1200">
                <a:solidFill>
                  <a:srgbClr val="4A4F5C"/>
                </a:solidFill>
                <a:latin typeface="IBM Plex Sans" pitchFamily="34" charset="0"/>
                <a:ea typeface="IBM Plex Sans" pitchFamily="34" charset="-122"/>
                <a:cs typeface="IBM Plex Sans" pitchFamily="34" charset="-120"/>
              </a:rPr>
              <a:t>connecting nodes </a:t>
            </a:r>
            <a:r>
              <a:rPr lang="en-US" sz="1200" dirty="0">
                <a:solidFill>
                  <a:srgbClr val="4A4F5C"/>
                </a:solidFill>
                <a:latin typeface="IBM Plex Sans" pitchFamily="34" charset="0"/>
                <a:ea typeface="IBM Plex Sans" pitchFamily="34" charset="-122"/>
                <a:cs typeface="IBM Plex Sans" pitchFamily="34" charset="-120"/>
              </a:rPr>
              <a:t>and inspect every step's input and output.</a:t>
            </a:r>
            <a:endParaRPr lang="en-US" sz="1200" dirty="0"/>
          </a:p>
        </p:txBody>
      </p:sp>
      <p:sp>
        <p:nvSpPr>
          <p:cNvPr id="8" name="Shape 6"/>
          <p:cNvSpPr/>
          <p:nvPr/>
        </p:nvSpPr>
        <p:spPr>
          <a:xfrm>
            <a:off x="4408977" y="3074427"/>
            <a:ext cx="3374044"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9" name="Text 7"/>
          <p:cNvSpPr/>
          <p:nvPr/>
        </p:nvSpPr>
        <p:spPr>
          <a:xfrm>
            <a:off x="4642387" y="3307837"/>
            <a:ext cx="2994443"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Self-host or cloud</a:t>
            </a:r>
            <a:endParaRPr lang="en-US" sz="1600" dirty="0"/>
          </a:p>
        </p:txBody>
      </p:sp>
      <p:sp>
        <p:nvSpPr>
          <p:cNvPr id="10" name="Text 8"/>
          <p:cNvSpPr/>
          <p:nvPr/>
        </p:nvSpPr>
        <p:spPr>
          <a:xfrm>
            <a:off x="4642387" y="3627846"/>
            <a:ext cx="29944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Run it on your own server </a:t>
            </a:r>
            <a:r>
              <a:rPr lang="en-US" sz="1200">
                <a:solidFill>
                  <a:srgbClr val="4A4F5C"/>
                </a:solidFill>
                <a:latin typeface="IBM Plex Sans" pitchFamily="34" charset="0"/>
                <a:ea typeface="IBM Plex Sans" pitchFamily="34" charset="-122"/>
                <a:cs typeface="IBM Plex Sans" pitchFamily="34" charset="-120"/>
              </a:rPr>
              <a:t>with Docker </a:t>
            </a:r>
            <a:r>
              <a:rPr lang="en-US" sz="1200" dirty="0">
                <a:solidFill>
                  <a:srgbClr val="4A4F5C"/>
                </a:solidFill>
                <a:latin typeface="IBM Plex Sans" pitchFamily="34" charset="0"/>
                <a:ea typeface="IBM Plex Sans" pitchFamily="34" charset="-122"/>
                <a:cs typeface="IBM Plex Sans" pitchFamily="34" charset="-120"/>
              </a:rPr>
              <a:t>or use n8n Cloud.</a:t>
            </a:r>
            <a:endParaRPr lang="en-US" sz="1200" dirty="0"/>
          </a:p>
        </p:txBody>
      </p:sp>
      <p:sp>
        <p:nvSpPr>
          <p:cNvPr id="11" name="Shape 9"/>
          <p:cNvSpPr/>
          <p:nvPr/>
        </p:nvSpPr>
        <p:spPr>
          <a:xfrm>
            <a:off x="7998887" y="3074427"/>
            <a:ext cx="3373986"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12" name="Text 10"/>
          <p:cNvSpPr/>
          <p:nvPr/>
        </p:nvSpPr>
        <p:spPr>
          <a:xfrm>
            <a:off x="8232296" y="3307837"/>
            <a:ext cx="2994383"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Fair-code license</a:t>
            </a:r>
            <a:endParaRPr lang="en-US" sz="1600" dirty="0"/>
          </a:p>
        </p:txBody>
      </p:sp>
      <p:sp>
        <p:nvSpPr>
          <p:cNvPr id="13" name="Text 11"/>
          <p:cNvSpPr/>
          <p:nvPr/>
        </p:nvSpPr>
        <p:spPr>
          <a:xfrm>
            <a:off x="8232296" y="3627846"/>
            <a:ext cx="29943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The source is available, and self-hosting is free for internal and personal use.</a:t>
            </a:r>
            <a:endParaRPr lang="en-US" sz="1200" dirty="0"/>
          </a:p>
        </p:txBody>
      </p:sp>
      <p:sp>
        <p:nvSpPr>
          <p:cNvPr id="14" name="Text 12"/>
          <p:cNvSpPr/>
          <p:nvPr/>
        </p:nvSpPr>
        <p:spPr>
          <a:xfrm>
            <a:off x="812777" y="6238291"/>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15" name="Text 13"/>
          <p:cNvSpPr/>
          <p:nvPr/>
        </p:nvSpPr>
        <p:spPr>
          <a:xfrm>
            <a:off x="10058422" y="6238291"/>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BASICS</a:t>
            </a:r>
            <a:endParaRPr lang="en-US" sz="1200" dirty="0"/>
          </a:p>
        </p:txBody>
      </p:sp>
      <p:sp>
        <p:nvSpPr>
          <p:cNvPr id="3" name="Text 1"/>
          <p:cNvSpPr>
            <a:spLocks noGrp="1"/>
          </p:cNvSpPr>
          <p:nvPr>
            <p:ph type="title"/>
          </p:nvPr>
        </p:nvSpPr>
        <p:spPr>
          <a:xfrm>
            <a:off x="812777" y="1127651"/>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Five core concepts</a:t>
            </a:r>
            <a:endParaRPr lang="en-US" sz="3600" dirty="0"/>
          </a:p>
        </p:txBody>
      </p:sp>
      <p:sp>
        <p:nvSpPr>
          <p:cNvPr id="4" name="Shape 2"/>
          <p:cNvSpPr/>
          <p:nvPr/>
        </p:nvSpPr>
        <p:spPr>
          <a:xfrm>
            <a:off x="11375989" y="1986127"/>
            <a:ext cx="0" cy="2794000"/>
          </a:xfrm>
          <a:prstGeom prst="line">
            <a:avLst/>
          </a:prstGeom>
          <a:noFill/>
          <a:ln w="6350">
            <a:solidFill>
              <a:srgbClr val="E2DDD2"/>
            </a:solidFill>
            <a:prstDash val="solid"/>
          </a:ln>
        </p:spPr>
        <p:txBody>
          <a:bodyPr/>
          <a:lstStyle/>
          <a:p>
            <a:endParaRPr lang="en-US"/>
          </a:p>
        </p:txBody>
      </p:sp>
      <p:sp>
        <p:nvSpPr>
          <p:cNvPr id="5" name="Shape 3"/>
          <p:cNvSpPr/>
          <p:nvPr/>
        </p:nvSpPr>
        <p:spPr>
          <a:xfrm>
            <a:off x="812777" y="4776952"/>
            <a:ext cx="10566388" cy="0"/>
          </a:xfrm>
          <a:prstGeom prst="line">
            <a:avLst/>
          </a:prstGeom>
          <a:noFill/>
          <a:ln w="6350">
            <a:solidFill>
              <a:srgbClr val="E2DDD2"/>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983" y="1997333"/>
          <a:ext cx="10551446" cy="2779056"/>
        </p:xfrm>
        <a:graphic>
          <a:graphicData uri="http://schemas.openxmlformats.org/drawingml/2006/table">
            <a:tbl>
              <a:tblPr/>
              <a:tblGrid>
                <a:gridCol w="2110289">
                  <a:extLst>
                    <a:ext uri="{9D8B030D-6E8A-4147-A177-3AD203B41FA5}">
                      <a16:colId xmlns:a16="http://schemas.microsoft.com/office/drawing/2014/main" val="20000"/>
                    </a:ext>
                  </a:extLst>
                </a:gridCol>
                <a:gridCol w="4431607">
                  <a:extLst>
                    <a:ext uri="{9D8B030D-6E8A-4147-A177-3AD203B41FA5}">
                      <a16:colId xmlns:a16="http://schemas.microsoft.com/office/drawing/2014/main" val="20001"/>
                    </a:ext>
                  </a:extLst>
                </a:gridCol>
                <a:gridCol w="4009550">
                  <a:extLst>
                    <a:ext uri="{9D8B030D-6E8A-4147-A177-3AD203B41FA5}">
                      <a16:colId xmlns:a16="http://schemas.microsoft.com/office/drawing/2014/main" val="20002"/>
                    </a:ext>
                  </a:extLst>
                </a:gridCol>
              </a:tblGrid>
              <a:tr h="463176">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Concept</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What it is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In our digest</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Trigger</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Starts a run</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Schedule: every day at 08:00</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Node</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One step: fetch, transform, branch or send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HTTP Request, RSS Read, Code, IF, Mailjet</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2"/>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Item</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One JSON object flowing between nodes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One item per story</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Expression</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Inline JavaScript in any field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 $json.subject }}</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4"/>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Credential</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A stored secret, reused by nodes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OpenRouter key, Mailjet login</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bl>
          </a:graphicData>
        </a:graphic>
      </p:graphicFrame>
      <p:sp>
        <p:nvSpPr>
          <p:cNvPr id="7" name="Text 4"/>
          <p:cNvSpPr/>
          <p:nvPr/>
        </p:nvSpPr>
        <p:spPr>
          <a:xfrm>
            <a:off x="812777" y="623829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8" name="Text 5"/>
          <p:cNvSpPr/>
          <p:nvPr/>
        </p:nvSpPr>
        <p:spPr>
          <a:xfrm>
            <a:off x="10058422"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BASICS</a:t>
            </a:r>
            <a:endParaRPr lang="en-US" sz="1200" dirty="0"/>
          </a:p>
        </p:txBody>
      </p:sp>
      <p:sp>
        <p:nvSpPr>
          <p:cNvPr id="3" name="Text 1"/>
          <p:cNvSpPr>
            <a:spLocks noGrp="1"/>
          </p:cNvSpPr>
          <p:nvPr>
            <p:ph type="title"/>
          </p:nvPr>
        </p:nvSpPr>
        <p:spPr>
          <a:xfrm>
            <a:off x="812777" y="1127651"/>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Why developers like it</a:t>
            </a:r>
            <a:endParaRPr lang="en-US" sz="3600" dirty="0"/>
          </a:p>
        </p:txBody>
      </p:sp>
      <p:sp>
        <p:nvSpPr>
          <p:cNvPr id="4" name="Shape 2"/>
          <p:cNvSpPr/>
          <p:nvPr/>
        </p:nvSpPr>
        <p:spPr>
          <a:xfrm>
            <a:off x="819127" y="1992477"/>
            <a:ext cx="5168911" cy="1223624"/>
          </a:xfrm>
          <a:prstGeom prst="roundRect">
            <a:avLst>
              <a:gd name="adj" fmla="val 7784"/>
            </a:avLst>
          </a:prstGeom>
          <a:solidFill>
            <a:srgbClr val="FDFCF9"/>
          </a:solidFill>
          <a:ln w="12700">
            <a:solidFill>
              <a:srgbClr val="E2DDD2"/>
            </a:solidFill>
            <a:prstDash val="solid"/>
          </a:ln>
        </p:spPr>
        <p:txBody>
          <a:bodyPr/>
          <a:lstStyle/>
          <a:p>
            <a:endParaRPr lang="en-US"/>
          </a:p>
        </p:txBody>
      </p:sp>
      <p:pic>
        <p:nvPicPr>
          <p:cNvPr id="5" name="Image 0" descr="Link"/>
          <p:cNvPicPr>
            <a:picLocks noChangeAspect="1"/>
          </p:cNvPicPr>
          <p:nvPr/>
        </p:nvPicPr>
        <p:blipFill>
          <a:blip r:embed="rId3"/>
          <a:srcRect/>
          <a:stretch/>
        </p:blipFill>
        <p:spPr>
          <a:xfrm>
            <a:off x="1052536" y="2225886"/>
            <a:ext cx="254000" cy="254000"/>
          </a:xfrm>
          <a:prstGeom prst="rect">
            <a:avLst/>
          </a:prstGeom>
        </p:spPr>
      </p:pic>
      <p:sp>
        <p:nvSpPr>
          <p:cNvPr id="6" name="Text 3"/>
          <p:cNvSpPr/>
          <p:nvPr/>
        </p:nvSpPr>
        <p:spPr>
          <a:xfrm>
            <a:off x="1408089" y="2230963"/>
            <a:ext cx="913770"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Any API</a:t>
            </a:r>
            <a:endParaRPr lang="en-US" sz="1600" dirty="0"/>
          </a:p>
        </p:txBody>
      </p:sp>
      <p:sp>
        <p:nvSpPr>
          <p:cNvPr id="7" name="Text 4"/>
          <p:cNvSpPr/>
          <p:nvPr/>
        </p:nvSpPr>
        <p:spPr>
          <a:xfrm>
            <a:off x="1052536" y="2556050"/>
            <a:ext cx="48431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The HTTP Request node calls any REST endpoint. Credentials live in n8n, not in the workflow.</a:t>
            </a:r>
            <a:endParaRPr lang="en-US" sz="1200" dirty="0"/>
          </a:p>
        </p:txBody>
      </p:sp>
      <p:sp>
        <p:nvSpPr>
          <p:cNvPr id="8" name="Shape 5"/>
          <p:cNvSpPr/>
          <p:nvPr/>
        </p:nvSpPr>
        <p:spPr>
          <a:xfrm>
            <a:off x="6203903" y="1992477"/>
            <a:ext cx="5168970" cy="1223624"/>
          </a:xfrm>
          <a:prstGeom prst="roundRect">
            <a:avLst>
              <a:gd name="adj" fmla="val 7784"/>
            </a:avLst>
          </a:prstGeom>
          <a:solidFill>
            <a:srgbClr val="FDFCF9"/>
          </a:solidFill>
          <a:ln w="12700">
            <a:solidFill>
              <a:srgbClr val="E2DDD2"/>
            </a:solidFill>
            <a:prstDash val="solid"/>
          </a:ln>
        </p:spPr>
        <p:txBody>
          <a:bodyPr/>
          <a:lstStyle/>
          <a:p>
            <a:endParaRPr lang="en-US"/>
          </a:p>
        </p:txBody>
      </p:sp>
      <p:pic>
        <p:nvPicPr>
          <p:cNvPr id="9" name="Image 1" descr="Code"/>
          <p:cNvPicPr>
            <a:picLocks noChangeAspect="1"/>
          </p:cNvPicPr>
          <p:nvPr/>
        </p:nvPicPr>
        <p:blipFill>
          <a:blip r:embed="rId4"/>
          <a:srcRect/>
          <a:stretch/>
        </p:blipFill>
        <p:spPr>
          <a:xfrm>
            <a:off x="6437312" y="2225886"/>
            <a:ext cx="254000" cy="254000"/>
          </a:xfrm>
          <a:prstGeom prst="rect">
            <a:avLst/>
          </a:prstGeom>
        </p:spPr>
      </p:pic>
      <p:sp>
        <p:nvSpPr>
          <p:cNvPr id="10" name="Text 6"/>
          <p:cNvSpPr/>
          <p:nvPr/>
        </p:nvSpPr>
        <p:spPr>
          <a:xfrm>
            <a:off x="6792865" y="2230963"/>
            <a:ext cx="1103149"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Real code</a:t>
            </a:r>
            <a:endParaRPr lang="en-US" sz="1600" dirty="0"/>
          </a:p>
        </p:txBody>
      </p:sp>
      <p:sp>
        <p:nvSpPr>
          <p:cNvPr id="11" name="Text 7"/>
          <p:cNvSpPr/>
          <p:nvPr/>
        </p:nvSpPr>
        <p:spPr>
          <a:xfrm>
            <a:off x="6437312" y="2556050"/>
            <a:ext cx="4843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Drop into JavaScript or Python in a Code node when a visual node isn't enough.</a:t>
            </a:r>
            <a:endParaRPr lang="en-US" sz="1200" dirty="0"/>
          </a:p>
        </p:txBody>
      </p:sp>
      <p:sp>
        <p:nvSpPr>
          <p:cNvPr id="12" name="Shape 8"/>
          <p:cNvSpPr/>
          <p:nvPr/>
        </p:nvSpPr>
        <p:spPr>
          <a:xfrm>
            <a:off x="819127" y="3431966"/>
            <a:ext cx="5168911" cy="1223624"/>
          </a:xfrm>
          <a:prstGeom prst="roundRect">
            <a:avLst>
              <a:gd name="adj" fmla="val 7784"/>
            </a:avLst>
          </a:prstGeom>
          <a:solidFill>
            <a:srgbClr val="FDFCF9"/>
          </a:solidFill>
          <a:ln w="12700">
            <a:solidFill>
              <a:srgbClr val="E2DDD2"/>
            </a:solidFill>
            <a:prstDash val="solid"/>
          </a:ln>
        </p:spPr>
        <p:txBody>
          <a:bodyPr/>
          <a:lstStyle/>
          <a:p>
            <a:endParaRPr lang="en-US"/>
          </a:p>
        </p:txBody>
      </p:sp>
      <p:pic>
        <p:nvPicPr>
          <p:cNvPr id="13" name="Image 2" descr="Lock"/>
          <p:cNvPicPr>
            <a:picLocks noChangeAspect="1"/>
          </p:cNvPicPr>
          <p:nvPr/>
        </p:nvPicPr>
        <p:blipFill>
          <a:blip r:embed="rId5"/>
          <a:srcRect/>
          <a:stretch/>
        </p:blipFill>
        <p:spPr>
          <a:xfrm>
            <a:off x="1052536" y="3665375"/>
            <a:ext cx="254000" cy="254000"/>
          </a:xfrm>
          <a:prstGeom prst="rect">
            <a:avLst/>
          </a:prstGeom>
        </p:spPr>
      </p:pic>
      <p:sp>
        <p:nvSpPr>
          <p:cNvPr id="14" name="Text 9"/>
          <p:cNvSpPr/>
          <p:nvPr/>
        </p:nvSpPr>
        <p:spPr>
          <a:xfrm>
            <a:off x="1408089" y="3670452"/>
            <a:ext cx="2139623"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Your infrastructure</a:t>
            </a:r>
            <a:endParaRPr lang="en-US" sz="1600" dirty="0"/>
          </a:p>
        </p:txBody>
      </p:sp>
      <p:sp>
        <p:nvSpPr>
          <p:cNvPr id="15" name="Text 10"/>
          <p:cNvSpPr/>
          <p:nvPr/>
        </p:nvSpPr>
        <p:spPr>
          <a:xfrm>
            <a:off x="1052536" y="3995539"/>
            <a:ext cx="48431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Self-host with Docker, so data and API keys stay on your own servers.</a:t>
            </a:r>
            <a:endParaRPr lang="en-US" sz="1200" dirty="0"/>
          </a:p>
        </p:txBody>
      </p:sp>
      <p:sp>
        <p:nvSpPr>
          <p:cNvPr id="16" name="Shape 11"/>
          <p:cNvSpPr/>
          <p:nvPr/>
        </p:nvSpPr>
        <p:spPr>
          <a:xfrm>
            <a:off x="6203903" y="3431966"/>
            <a:ext cx="5168970" cy="1223624"/>
          </a:xfrm>
          <a:prstGeom prst="roundRect">
            <a:avLst>
              <a:gd name="adj" fmla="val 7784"/>
            </a:avLst>
          </a:prstGeom>
          <a:solidFill>
            <a:srgbClr val="FDFCF9"/>
          </a:solidFill>
          <a:ln w="12700">
            <a:solidFill>
              <a:srgbClr val="E2DDD2"/>
            </a:solidFill>
            <a:prstDash val="solid"/>
          </a:ln>
        </p:spPr>
        <p:txBody>
          <a:bodyPr/>
          <a:lstStyle/>
          <a:p>
            <a:endParaRPr lang="en-US"/>
          </a:p>
        </p:txBody>
      </p:sp>
      <p:pic>
        <p:nvPicPr>
          <p:cNvPr id="17" name="Image 3" descr="Activity"/>
          <p:cNvPicPr>
            <a:picLocks noChangeAspect="1"/>
          </p:cNvPicPr>
          <p:nvPr/>
        </p:nvPicPr>
        <p:blipFill>
          <a:blip r:embed="rId6"/>
          <a:srcRect/>
          <a:stretch/>
        </p:blipFill>
        <p:spPr>
          <a:xfrm>
            <a:off x="6437312" y="3665375"/>
            <a:ext cx="254000" cy="254000"/>
          </a:xfrm>
          <a:prstGeom prst="rect">
            <a:avLst/>
          </a:prstGeom>
        </p:spPr>
      </p:pic>
      <p:sp>
        <p:nvSpPr>
          <p:cNvPr id="18" name="Text 12"/>
          <p:cNvSpPr/>
          <p:nvPr/>
        </p:nvSpPr>
        <p:spPr>
          <a:xfrm>
            <a:off x="6792865" y="3670452"/>
            <a:ext cx="2104955"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Built-in operations</a:t>
            </a:r>
            <a:endParaRPr lang="en-US" sz="1600" dirty="0"/>
          </a:p>
        </p:txBody>
      </p:sp>
      <p:sp>
        <p:nvSpPr>
          <p:cNvPr id="19" name="Text 13"/>
          <p:cNvSpPr/>
          <p:nvPr/>
        </p:nvSpPr>
        <p:spPr>
          <a:xfrm>
            <a:off x="6437312" y="3995539"/>
            <a:ext cx="49292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Retries, execution history and error workflows come out of the box.</a:t>
            </a:r>
            <a:endParaRPr lang="en-US" sz="1200" dirty="0"/>
          </a:p>
        </p:txBody>
      </p:sp>
      <p:sp>
        <p:nvSpPr>
          <p:cNvPr id="20" name="Text 14"/>
          <p:cNvSpPr/>
          <p:nvPr/>
        </p:nvSpPr>
        <p:spPr>
          <a:xfrm>
            <a:off x="812777" y="6238291"/>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21" name="Text 15"/>
          <p:cNvSpPr/>
          <p:nvPr/>
        </p:nvSpPr>
        <p:spPr>
          <a:xfrm>
            <a:off x="10058422" y="6238291"/>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4B71"/>
        </a:solidFill>
        <a:effectLst/>
      </p:bgPr>
    </p:bg>
    <p:spTree>
      <p:nvGrpSpPr>
        <p:cNvPr id="1" name=""/>
        <p:cNvGrpSpPr/>
        <p:nvPr/>
      </p:nvGrpSpPr>
      <p:grpSpPr>
        <a:xfrm>
          <a:off x="0" y="0"/>
          <a:ext cx="0" cy="0"/>
          <a:chOff x="0" y="0"/>
          <a:chExt cx="0" cy="0"/>
        </a:xfrm>
      </p:grpSpPr>
      <p:sp>
        <p:nvSpPr>
          <p:cNvPr id="2" name="Text 0"/>
          <p:cNvSpPr/>
          <p:nvPr/>
        </p:nvSpPr>
        <p:spPr>
          <a:xfrm>
            <a:off x="812777" y="230508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6181D"/>
                </a:solidFill>
                <a:latin typeface="JetBrains Mono" pitchFamily="49" charset="0"/>
                <a:ea typeface="JetBrains Mono" pitchFamily="49" charset="-122"/>
                <a:cs typeface="JetBrains Mono" pitchFamily="49" charset="-120"/>
              </a:rPr>
              <a:t>EXAMPLE</a:t>
            </a:r>
            <a:endParaRPr lang="en-US" sz="1200" dirty="0"/>
          </a:p>
        </p:txBody>
      </p:sp>
      <p:sp>
        <p:nvSpPr>
          <p:cNvPr id="3" name="Text 1"/>
          <p:cNvSpPr>
            <a:spLocks noGrp="1"/>
          </p:cNvSpPr>
          <p:nvPr>
            <p:ph type="title"/>
          </p:nvPr>
        </p:nvSpPr>
        <p:spPr>
          <a:xfrm>
            <a:off x="812777" y="2772408"/>
            <a:ext cx="10883439" cy="825453"/>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6181D"/>
                </a:solidFill>
                <a:latin typeface="IBM Plex Sans" pitchFamily="34" charset="0"/>
                <a:ea typeface="IBM Plex Sans" pitchFamily="34" charset="-122"/>
                <a:cs typeface="IBM Plex Sans" pitchFamily="34" charset="-120"/>
              </a:rPr>
              <a:t>A daily tech-news digest</a:t>
            </a:r>
            <a:endParaRPr lang="en-US" sz="6000" dirty="0"/>
          </a:p>
        </p:txBody>
      </p:sp>
      <p:sp>
        <p:nvSpPr>
          <p:cNvPr id="4" name="Text 2"/>
          <p:cNvSpPr/>
          <p:nvPr/>
        </p:nvSpPr>
        <p:spPr>
          <a:xfrm>
            <a:off x="812777" y="3826461"/>
            <a:ext cx="10883439" cy="751798"/>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6181D"/>
                </a:solidFill>
                <a:latin typeface="IBM Plex Sans" pitchFamily="34" charset="0"/>
                <a:ea typeface="IBM Plex Sans" pitchFamily="34" charset="-122"/>
                <a:cs typeface="IBM Plex Sans" pitchFamily="34" charset="-120"/>
              </a:rPr>
              <a:t>Five sources, smart ranking, a free LLM and an email at 08:00 every morning, built entirely in n8n.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PIPELINE</a:t>
            </a:r>
            <a:endParaRPr lang="en-US" sz="1200" dirty="0"/>
          </a:p>
        </p:txBody>
      </p:sp>
      <p:sp>
        <p:nvSpPr>
          <p:cNvPr id="3" name="Text 1"/>
          <p:cNvSpPr>
            <a:spLocks noGrp="1"/>
          </p:cNvSpPr>
          <p:nvPr>
            <p:ph type="title"/>
          </p:nvPr>
        </p:nvSpPr>
        <p:spPr>
          <a:xfrm>
            <a:off x="812777" y="1127652"/>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How the workflow runs</a:t>
            </a:r>
            <a:endParaRPr lang="en-US" sz="3600" dirty="0"/>
          </a:p>
        </p:txBody>
      </p:sp>
      <p:sp>
        <p:nvSpPr>
          <p:cNvPr id="4" name="Shape 2"/>
          <p:cNvSpPr/>
          <p:nvPr/>
        </p:nvSpPr>
        <p:spPr>
          <a:xfrm>
            <a:off x="819127" y="2144923"/>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5" name="Text 3"/>
          <p:cNvSpPr/>
          <p:nvPr/>
        </p:nvSpPr>
        <p:spPr>
          <a:xfrm>
            <a:off x="976371" y="2302166"/>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1 · Schedule</a:t>
            </a:r>
            <a:endParaRPr lang="en-US" sz="1196" dirty="0"/>
          </a:p>
        </p:txBody>
      </p:sp>
      <p:sp>
        <p:nvSpPr>
          <p:cNvPr id="6" name="Text 4"/>
          <p:cNvSpPr/>
          <p:nvPr/>
        </p:nvSpPr>
        <p:spPr>
          <a:xfrm>
            <a:off x="976371" y="2551323"/>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every day at 08:00</a:t>
            </a:r>
            <a:endParaRPr lang="en-US" sz="1196" dirty="0"/>
          </a:p>
        </p:txBody>
      </p:sp>
      <p:sp>
        <p:nvSpPr>
          <p:cNvPr id="7" name="Shape 5"/>
          <p:cNvSpPr/>
          <p:nvPr/>
        </p:nvSpPr>
        <p:spPr>
          <a:xfrm>
            <a:off x="3562291" y="2144923"/>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8" name="Text 6"/>
          <p:cNvSpPr/>
          <p:nvPr/>
        </p:nvSpPr>
        <p:spPr>
          <a:xfrm>
            <a:off x="3719536" y="2302166"/>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2 · Fetch sources</a:t>
            </a:r>
            <a:endParaRPr lang="en-US" sz="1196" dirty="0"/>
          </a:p>
        </p:txBody>
      </p:sp>
      <p:sp>
        <p:nvSpPr>
          <p:cNvPr id="9" name="Text 7"/>
          <p:cNvSpPr/>
          <p:nvPr/>
        </p:nvSpPr>
        <p:spPr>
          <a:xfrm>
            <a:off x="3719536" y="2551323"/>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five feeds in parallel</a:t>
            </a:r>
            <a:endParaRPr lang="en-US" sz="1196" dirty="0"/>
          </a:p>
        </p:txBody>
      </p:sp>
      <p:sp>
        <p:nvSpPr>
          <p:cNvPr id="10" name="Shape 8"/>
          <p:cNvSpPr/>
          <p:nvPr/>
        </p:nvSpPr>
        <p:spPr>
          <a:xfrm>
            <a:off x="6305515" y="2144923"/>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11" name="Text 9"/>
          <p:cNvSpPr/>
          <p:nvPr/>
        </p:nvSpPr>
        <p:spPr>
          <a:xfrm>
            <a:off x="6462759" y="2302166"/>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3 · Merge</a:t>
            </a:r>
            <a:endParaRPr lang="en-US" sz="1196" dirty="0"/>
          </a:p>
        </p:txBody>
      </p:sp>
      <p:sp>
        <p:nvSpPr>
          <p:cNvPr id="12" name="Text 10"/>
          <p:cNvSpPr/>
          <p:nvPr/>
        </p:nvSpPr>
        <p:spPr>
          <a:xfrm>
            <a:off x="6462759" y="2551323"/>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wait for all five</a:t>
            </a:r>
            <a:endParaRPr lang="en-US" sz="1196" dirty="0"/>
          </a:p>
        </p:txBody>
      </p:sp>
      <p:sp>
        <p:nvSpPr>
          <p:cNvPr id="13" name="Shape 11"/>
          <p:cNvSpPr/>
          <p:nvPr/>
        </p:nvSpPr>
        <p:spPr>
          <a:xfrm>
            <a:off x="9048679" y="2144923"/>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14" name="Text 12"/>
          <p:cNvSpPr/>
          <p:nvPr/>
        </p:nvSpPr>
        <p:spPr>
          <a:xfrm>
            <a:off x="9205923" y="2302166"/>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4 · Filter &amp; Rank</a:t>
            </a:r>
            <a:endParaRPr lang="en-US" sz="1196" dirty="0"/>
          </a:p>
        </p:txBody>
      </p:sp>
      <p:sp>
        <p:nvSpPr>
          <p:cNvPr id="15" name="Text 13"/>
          <p:cNvSpPr/>
          <p:nvPr/>
        </p:nvSpPr>
        <p:spPr>
          <a:xfrm>
            <a:off x="9205923" y="2551323"/>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score and keep top 20</a:t>
            </a:r>
            <a:endParaRPr lang="en-US" sz="1196" dirty="0"/>
          </a:p>
        </p:txBody>
      </p:sp>
      <p:sp>
        <p:nvSpPr>
          <p:cNvPr id="16" name="Shape 14"/>
          <p:cNvSpPr/>
          <p:nvPr/>
        </p:nvSpPr>
        <p:spPr>
          <a:xfrm>
            <a:off x="9048679" y="5040477"/>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17" name="Text 15"/>
          <p:cNvSpPr/>
          <p:nvPr/>
        </p:nvSpPr>
        <p:spPr>
          <a:xfrm>
            <a:off x="9205923" y="5197720"/>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5 · Any stories?</a:t>
            </a:r>
            <a:endParaRPr lang="en-US" sz="1196" dirty="0"/>
          </a:p>
        </p:txBody>
      </p:sp>
      <p:sp>
        <p:nvSpPr>
          <p:cNvPr id="18" name="Text 16"/>
          <p:cNvSpPr/>
          <p:nvPr/>
        </p:nvSpPr>
        <p:spPr>
          <a:xfrm>
            <a:off x="9205923" y="5446877"/>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stop if none</a:t>
            </a:r>
            <a:endParaRPr lang="en-US" sz="1196" dirty="0"/>
          </a:p>
        </p:txBody>
      </p:sp>
      <p:sp>
        <p:nvSpPr>
          <p:cNvPr id="19" name="Shape 17"/>
          <p:cNvSpPr/>
          <p:nvPr/>
        </p:nvSpPr>
        <p:spPr>
          <a:xfrm>
            <a:off x="6305515" y="5040477"/>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20" name="Text 18"/>
          <p:cNvSpPr/>
          <p:nvPr/>
        </p:nvSpPr>
        <p:spPr>
          <a:xfrm>
            <a:off x="6462759" y="5197720"/>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6 · LLM summarize</a:t>
            </a:r>
            <a:endParaRPr lang="en-US" sz="1196" dirty="0"/>
          </a:p>
        </p:txBody>
      </p:sp>
      <p:sp>
        <p:nvSpPr>
          <p:cNvPr id="21" name="Text 19"/>
          <p:cNvSpPr/>
          <p:nvPr/>
        </p:nvSpPr>
        <p:spPr>
          <a:xfrm>
            <a:off x="6462759" y="5446877"/>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pick 10, as JSON</a:t>
            </a:r>
            <a:endParaRPr lang="en-US" sz="1196" dirty="0"/>
          </a:p>
        </p:txBody>
      </p:sp>
      <p:sp>
        <p:nvSpPr>
          <p:cNvPr id="22" name="Shape 20"/>
          <p:cNvSpPr/>
          <p:nvPr/>
        </p:nvSpPr>
        <p:spPr>
          <a:xfrm>
            <a:off x="3562291" y="5040477"/>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23" name="Text 21"/>
          <p:cNvSpPr/>
          <p:nvPr/>
        </p:nvSpPr>
        <p:spPr>
          <a:xfrm>
            <a:off x="3719536" y="5197720"/>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7 · Format message</a:t>
            </a:r>
            <a:endParaRPr lang="en-US" sz="1196" dirty="0"/>
          </a:p>
        </p:txBody>
      </p:sp>
      <p:sp>
        <p:nvSpPr>
          <p:cNvPr id="24" name="Text 22"/>
          <p:cNvSpPr/>
          <p:nvPr/>
        </p:nvSpPr>
        <p:spPr>
          <a:xfrm>
            <a:off x="3719536" y="5446877"/>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build the email</a:t>
            </a:r>
            <a:endParaRPr lang="en-US" sz="1196" dirty="0"/>
          </a:p>
        </p:txBody>
      </p:sp>
      <p:sp>
        <p:nvSpPr>
          <p:cNvPr id="25" name="Shape 23"/>
          <p:cNvSpPr/>
          <p:nvPr/>
        </p:nvSpPr>
        <p:spPr>
          <a:xfrm>
            <a:off x="819127" y="5040477"/>
            <a:ext cx="2324077" cy="774688"/>
          </a:xfrm>
          <a:prstGeom prst="roundRect">
            <a:avLst>
              <a:gd name="adj" fmla="val 12295"/>
            </a:avLst>
          </a:prstGeom>
          <a:solidFill>
            <a:srgbClr val="FDFCF9"/>
          </a:solidFill>
          <a:ln w="12700">
            <a:solidFill>
              <a:srgbClr val="E2DDD2"/>
            </a:solidFill>
            <a:prstDash val="solid"/>
          </a:ln>
        </p:spPr>
        <p:txBody>
          <a:bodyPr/>
          <a:lstStyle/>
          <a:p>
            <a:endParaRPr lang="en-US"/>
          </a:p>
        </p:txBody>
      </p:sp>
      <p:sp>
        <p:nvSpPr>
          <p:cNvPr id="26" name="Text 24"/>
          <p:cNvSpPr/>
          <p:nvPr/>
        </p:nvSpPr>
        <p:spPr>
          <a:xfrm>
            <a:off x="976371" y="5197720"/>
            <a:ext cx="2069876" cy="236502"/>
          </a:xfrm>
          <a:prstGeom prst="rect">
            <a:avLst/>
          </a:prstGeom>
          <a:noFill/>
          <a:ln/>
        </p:spPr>
        <p:txBody>
          <a:bodyPr wrap="square" lIns="0" tIns="0" rIns="0" bIns="0" rtlCol="0" anchor="t">
            <a:normAutofit/>
          </a:bodyPr>
          <a:lstStyle/>
          <a:p>
            <a:pPr marL="0" indent="0" algn="l">
              <a:lnSpc>
                <a:spcPts val="1675"/>
              </a:lnSpc>
              <a:buNone/>
            </a:pPr>
            <a:r>
              <a:rPr lang="en-US" sz="1196" b="1" dirty="0">
                <a:solidFill>
                  <a:srgbClr val="16181D"/>
                </a:solidFill>
                <a:latin typeface="IBM Plex Sans" pitchFamily="34" charset="0"/>
                <a:ea typeface="IBM Plex Sans" pitchFamily="34" charset="-122"/>
                <a:cs typeface="IBM Plex Sans" pitchFamily="34" charset="-120"/>
              </a:rPr>
              <a:t>8 · Send digest</a:t>
            </a:r>
            <a:endParaRPr lang="en-US" sz="1196" dirty="0"/>
          </a:p>
        </p:txBody>
      </p:sp>
      <p:sp>
        <p:nvSpPr>
          <p:cNvPr id="27" name="Text 25"/>
          <p:cNvSpPr/>
          <p:nvPr/>
        </p:nvSpPr>
        <p:spPr>
          <a:xfrm>
            <a:off x="976371" y="5446877"/>
            <a:ext cx="2069876" cy="23644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A4F5C"/>
                </a:solidFill>
                <a:latin typeface="IBM Plex Sans" pitchFamily="34" charset="0"/>
                <a:ea typeface="IBM Plex Sans" pitchFamily="34" charset="-122"/>
                <a:cs typeface="IBM Plex Sans" pitchFamily="34" charset="-120"/>
              </a:rPr>
              <a:t>via Mailjet</a:t>
            </a:r>
            <a:endParaRPr lang="en-US" sz="1196" dirty="0"/>
          </a:p>
        </p:txBody>
      </p:sp>
      <p:pic>
        <p:nvPicPr>
          <p:cNvPr id="28" name="Image 0" descr="connector"/>
          <p:cNvPicPr>
            <a:picLocks noChangeAspect="1"/>
          </p:cNvPicPr>
          <p:nvPr/>
        </p:nvPicPr>
        <p:blipFill>
          <a:blip r:embed="rId3"/>
          <a:srcRect l="-23" r="-23"/>
          <a:stretch/>
        </p:blipFill>
        <p:spPr>
          <a:xfrm>
            <a:off x="3098777" y="2481461"/>
            <a:ext cx="508000" cy="101553"/>
          </a:xfrm>
          <a:prstGeom prst="rect">
            <a:avLst/>
          </a:prstGeom>
        </p:spPr>
      </p:pic>
      <p:pic>
        <p:nvPicPr>
          <p:cNvPr id="29" name="Image 1" descr="connector"/>
          <p:cNvPicPr>
            <a:picLocks noChangeAspect="1"/>
          </p:cNvPicPr>
          <p:nvPr/>
        </p:nvPicPr>
        <p:blipFill>
          <a:blip r:embed="rId3"/>
          <a:srcRect l="-23" r="-23"/>
          <a:stretch/>
        </p:blipFill>
        <p:spPr>
          <a:xfrm>
            <a:off x="5841941" y="2481461"/>
            <a:ext cx="508000" cy="101553"/>
          </a:xfrm>
          <a:prstGeom prst="rect">
            <a:avLst/>
          </a:prstGeom>
        </p:spPr>
      </p:pic>
      <p:pic>
        <p:nvPicPr>
          <p:cNvPr id="30" name="Image 2" descr="connector"/>
          <p:cNvPicPr>
            <a:picLocks noChangeAspect="1"/>
          </p:cNvPicPr>
          <p:nvPr/>
        </p:nvPicPr>
        <p:blipFill>
          <a:blip r:embed="rId3"/>
          <a:srcRect l="-23" r="-23"/>
          <a:stretch/>
        </p:blipFill>
        <p:spPr>
          <a:xfrm>
            <a:off x="8585164" y="2481461"/>
            <a:ext cx="508000" cy="101553"/>
          </a:xfrm>
          <a:prstGeom prst="rect">
            <a:avLst/>
          </a:prstGeom>
        </p:spPr>
      </p:pic>
      <p:pic>
        <p:nvPicPr>
          <p:cNvPr id="31" name="Image 3" descr="connector"/>
          <p:cNvPicPr>
            <a:picLocks noChangeAspect="1"/>
          </p:cNvPicPr>
          <p:nvPr/>
        </p:nvPicPr>
        <p:blipFill>
          <a:blip r:embed="rId4"/>
          <a:srcRect t="-22" b="-22"/>
          <a:stretch/>
        </p:blipFill>
        <p:spPr>
          <a:xfrm>
            <a:off x="10159941" y="2875127"/>
            <a:ext cx="101553" cy="2209777"/>
          </a:xfrm>
          <a:prstGeom prst="rect">
            <a:avLst/>
          </a:prstGeom>
        </p:spPr>
      </p:pic>
      <p:pic>
        <p:nvPicPr>
          <p:cNvPr id="32" name="Image 4" descr="connector"/>
          <p:cNvPicPr>
            <a:picLocks noChangeAspect="1"/>
          </p:cNvPicPr>
          <p:nvPr/>
        </p:nvPicPr>
        <p:blipFill>
          <a:blip r:embed="rId5"/>
          <a:srcRect l="-23" r="-23"/>
          <a:stretch/>
        </p:blipFill>
        <p:spPr>
          <a:xfrm>
            <a:off x="8585164" y="5377073"/>
            <a:ext cx="508000" cy="101553"/>
          </a:xfrm>
          <a:prstGeom prst="rect">
            <a:avLst/>
          </a:prstGeom>
        </p:spPr>
      </p:pic>
      <p:pic>
        <p:nvPicPr>
          <p:cNvPr id="33" name="Image 5" descr="connector"/>
          <p:cNvPicPr>
            <a:picLocks noChangeAspect="1"/>
          </p:cNvPicPr>
          <p:nvPr/>
        </p:nvPicPr>
        <p:blipFill>
          <a:blip r:embed="rId5"/>
          <a:srcRect l="-23" r="-23"/>
          <a:stretch/>
        </p:blipFill>
        <p:spPr>
          <a:xfrm>
            <a:off x="5841941" y="5377073"/>
            <a:ext cx="508000" cy="101553"/>
          </a:xfrm>
          <a:prstGeom prst="rect">
            <a:avLst/>
          </a:prstGeom>
        </p:spPr>
      </p:pic>
      <p:pic>
        <p:nvPicPr>
          <p:cNvPr id="34" name="Image 6" descr="connector"/>
          <p:cNvPicPr>
            <a:picLocks noChangeAspect="1"/>
          </p:cNvPicPr>
          <p:nvPr/>
        </p:nvPicPr>
        <p:blipFill>
          <a:blip r:embed="rId5"/>
          <a:srcRect l="-23" r="-23"/>
          <a:stretch/>
        </p:blipFill>
        <p:spPr>
          <a:xfrm>
            <a:off x="3098777" y="5377073"/>
            <a:ext cx="508000" cy="101553"/>
          </a:xfrm>
          <a:prstGeom prst="rect">
            <a:avLst/>
          </a:prstGeom>
        </p:spPr>
      </p:pic>
      <p:sp>
        <p:nvSpPr>
          <p:cNvPr id="35" name="Text 26"/>
          <p:cNvSpPr/>
          <p:nvPr/>
        </p:nvSpPr>
        <p:spPr>
          <a:xfrm>
            <a:off x="812777" y="3535573"/>
            <a:ext cx="71945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Each source retries three times and continues on error, so one broken feed never stops the digest.</a:t>
            </a:r>
            <a:endParaRPr lang="en-US" sz="1200" dirty="0"/>
          </a:p>
        </p:txBody>
      </p:sp>
      <p:sp>
        <p:nvSpPr>
          <p:cNvPr id="36" name="Text 27"/>
          <p:cNvSpPr/>
          <p:nvPr/>
        </p:nvSpPr>
        <p:spPr>
          <a:xfrm>
            <a:off x="7861911" y="3789573"/>
            <a:ext cx="215836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C"/>
                </a:solidFill>
                <a:latin typeface="IBM Plex Sans" pitchFamily="34" charset="0"/>
                <a:ea typeface="IBM Plex Sans" pitchFamily="34" charset="-122"/>
                <a:cs typeface="IBM Plex Sans" pitchFamily="34" charset="-120"/>
              </a:rPr>
              <a:t>Failures branch off to alerts</a:t>
            </a:r>
            <a:endParaRPr lang="en-US" sz="1200" dirty="0"/>
          </a:p>
        </p:txBody>
      </p:sp>
      <p:sp>
        <p:nvSpPr>
          <p:cNvPr id="37" name="Text 28"/>
          <p:cNvSpPr/>
          <p:nvPr/>
        </p:nvSpPr>
        <p:spPr>
          <a:xfrm>
            <a:off x="812777" y="623829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38" name="Text 29"/>
          <p:cNvSpPr/>
          <p:nvPr/>
        </p:nvSpPr>
        <p:spPr>
          <a:xfrm>
            <a:off x="10058422"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PIPELINE</a:t>
            </a:r>
            <a:endParaRPr lang="en-US" sz="1200" dirty="0"/>
          </a:p>
        </p:txBody>
      </p:sp>
      <p:sp>
        <p:nvSpPr>
          <p:cNvPr id="3" name="Text 1"/>
          <p:cNvSpPr>
            <a:spLocks noGrp="1"/>
          </p:cNvSpPr>
          <p:nvPr>
            <p:ph type="title"/>
          </p:nvPr>
        </p:nvSpPr>
        <p:spPr>
          <a:xfrm>
            <a:off x="812777" y="1127652"/>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Five sources, two ways in</a:t>
            </a:r>
            <a:endParaRPr lang="en-US" sz="3600" dirty="0"/>
          </a:p>
        </p:txBody>
      </p:sp>
      <p:sp>
        <p:nvSpPr>
          <p:cNvPr id="4" name="Shape 2"/>
          <p:cNvSpPr/>
          <p:nvPr/>
        </p:nvSpPr>
        <p:spPr>
          <a:xfrm>
            <a:off x="11375989" y="1986127"/>
            <a:ext cx="0" cy="2794000"/>
          </a:xfrm>
          <a:prstGeom prst="line">
            <a:avLst/>
          </a:prstGeom>
          <a:noFill/>
          <a:ln w="6350">
            <a:solidFill>
              <a:srgbClr val="E2DDD2"/>
            </a:solidFill>
            <a:prstDash val="solid"/>
          </a:ln>
        </p:spPr>
        <p:txBody>
          <a:bodyPr/>
          <a:lstStyle/>
          <a:p>
            <a:endParaRPr lang="en-US"/>
          </a:p>
        </p:txBody>
      </p:sp>
      <p:sp>
        <p:nvSpPr>
          <p:cNvPr id="5" name="Shape 3"/>
          <p:cNvSpPr/>
          <p:nvPr/>
        </p:nvSpPr>
        <p:spPr>
          <a:xfrm>
            <a:off x="812777" y="4776952"/>
            <a:ext cx="10566388" cy="0"/>
          </a:xfrm>
          <a:prstGeom prst="line">
            <a:avLst/>
          </a:prstGeom>
          <a:noFill/>
          <a:ln w="6350">
            <a:solidFill>
              <a:srgbClr val="E2DDD2"/>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983" y="1997333"/>
          <a:ext cx="10551446" cy="2779056"/>
        </p:xfrm>
        <a:graphic>
          <a:graphicData uri="http://schemas.openxmlformats.org/drawingml/2006/table">
            <a:tbl>
              <a:tblPr/>
              <a:tblGrid>
                <a:gridCol w="2321318">
                  <a:extLst>
                    <a:ext uri="{9D8B030D-6E8A-4147-A177-3AD203B41FA5}">
                      <a16:colId xmlns:a16="http://schemas.microsoft.com/office/drawing/2014/main" val="20000"/>
                    </a:ext>
                  </a:extLst>
                </a:gridCol>
                <a:gridCol w="4642636">
                  <a:extLst>
                    <a:ext uri="{9D8B030D-6E8A-4147-A177-3AD203B41FA5}">
                      <a16:colId xmlns:a16="http://schemas.microsoft.com/office/drawing/2014/main" val="20001"/>
                    </a:ext>
                  </a:extLst>
                </a:gridCol>
                <a:gridCol w="3587492">
                  <a:extLst>
                    <a:ext uri="{9D8B030D-6E8A-4147-A177-3AD203B41FA5}">
                      <a16:colId xmlns:a16="http://schemas.microsoft.com/office/drawing/2014/main" val="20002"/>
                    </a:ext>
                  </a:extLst>
                </a:gridCol>
              </a:tblGrid>
              <a:tr h="463176">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Source</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How it is fetched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Popularity signal</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Hacker News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HTTP Request to the Algolia API</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Upvotes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Lobsters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HTTP Request to its JSON feed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Upvotes</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2"/>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TechCrunch</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RSS Read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Tech.eu</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RSS Read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4"/>
                  </a:ext>
                </a:extLst>
              </a:tr>
              <a:tr h="463176">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The Register</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RSS Read (Atom feed)</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bl>
          </a:graphicData>
        </a:graphic>
      </p:graphicFrame>
      <p:sp>
        <p:nvSpPr>
          <p:cNvPr id="7" name="Text 4"/>
          <p:cNvSpPr/>
          <p:nvPr/>
        </p:nvSpPr>
        <p:spPr>
          <a:xfrm>
            <a:off x="812777" y="5135680"/>
            <a:ext cx="108834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Dropped along the way: Reddit and Ars Technica, which block requests coming from servers.</a:t>
            </a:r>
            <a:endParaRPr lang="en-US" sz="1200" dirty="0"/>
          </a:p>
        </p:txBody>
      </p:sp>
      <p:sp>
        <p:nvSpPr>
          <p:cNvPr id="8" name="Text 5"/>
          <p:cNvSpPr/>
          <p:nvPr/>
        </p:nvSpPr>
        <p:spPr>
          <a:xfrm>
            <a:off x="812777" y="623829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9" name="Text 6"/>
          <p:cNvSpPr/>
          <p:nvPr/>
        </p:nvSpPr>
        <p:spPr>
          <a:xfrm>
            <a:off x="10058422"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78"/>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PIPELINE</a:t>
            </a:r>
            <a:endParaRPr lang="en-US" sz="1200" dirty="0"/>
          </a:p>
        </p:txBody>
      </p:sp>
      <p:sp>
        <p:nvSpPr>
          <p:cNvPr id="3" name="Text 1"/>
          <p:cNvSpPr>
            <a:spLocks noGrp="1"/>
          </p:cNvSpPr>
          <p:nvPr>
            <p:ph type="title"/>
          </p:nvPr>
        </p:nvSpPr>
        <p:spPr>
          <a:xfrm>
            <a:off x="812777" y="1127649"/>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Ranking: four signals, multiplied</a:t>
            </a:r>
            <a:endParaRPr lang="en-US" sz="3600" dirty="0"/>
          </a:p>
        </p:txBody>
      </p:sp>
      <p:sp>
        <p:nvSpPr>
          <p:cNvPr id="4" name="Text 2"/>
          <p:cNvSpPr/>
          <p:nvPr/>
        </p:nvSpPr>
        <p:spPr>
          <a:xfrm>
            <a:off x="812777" y="1986127"/>
            <a:ext cx="10883439" cy="388599"/>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6181D"/>
                </a:solidFill>
                <a:latin typeface="JetBrains Mono" pitchFamily="49" charset="0"/>
                <a:ea typeface="JetBrains Mono" pitchFamily="49" charset="-122"/>
                <a:cs typeface="JetBrains Mono" pitchFamily="49" charset="-120"/>
              </a:rPr>
              <a:t>score = relevance × freshness × popularity × buzz</a:t>
            </a:r>
            <a:endParaRPr lang="en-US" sz="2200" dirty="0"/>
          </a:p>
        </p:txBody>
      </p:sp>
      <p:sp>
        <p:nvSpPr>
          <p:cNvPr id="5" name="Shape 3"/>
          <p:cNvSpPr/>
          <p:nvPr/>
        </p:nvSpPr>
        <p:spPr>
          <a:xfrm>
            <a:off x="819127" y="2711227"/>
            <a:ext cx="2476523"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6" name="Text 4"/>
          <p:cNvSpPr/>
          <p:nvPr/>
        </p:nvSpPr>
        <p:spPr>
          <a:xfrm>
            <a:off x="1052536" y="2944639"/>
            <a:ext cx="2069996"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Relevance</a:t>
            </a:r>
            <a:endParaRPr lang="en-US" sz="1600" dirty="0"/>
          </a:p>
        </p:txBody>
      </p:sp>
      <p:sp>
        <p:nvSpPr>
          <p:cNvPr id="7" name="Text 5"/>
          <p:cNvSpPr/>
          <p:nvPr/>
        </p:nvSpPr>
        <p:spPr>
          <a:xfrm>
            <a:off x="1052536" y="3264647"/>
            <a:ext cx="20699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Weighted keywords: Docker or CVE count 3, AI counts 1.</a:t>
            </a:r>
            <a:endParaRPr lang="en-US" sz="1200" dirty="0"/>
          </a:p>
        </p:txBody>
      </p:sp>
      <p:sp>
        <p:nvSpPr>
          <p:cNvPr id="8" name="Shape 6"/>
          <p:cNvSpPr/>
          <p:nvPr/>
        </p:nvSpPr>
        <p:spPr>
          <a:xfrm>
            <a:off x="3511515" y="2711227"/>
            <a:ext cx="2476582"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9" name="Text 7"/>
          <p:cNvSpPr/>
          <p:nvPr/>
        </p:nvSpPr>
        <p:spPr>
          <a:xfrm>
            <a:off x="3744924" y="2944639"/>
            <a:ext cx="2070056"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Freshness</a:t>
            </a:r>
            <a:endParaRPr lang="en-US" sz="1600" dirty="0"/>
          </a:p>
        </p:txBody>
      </p:sp>
      <p:sp>
        <p:nvSpPr>
          <p:cNvPr id="10" name="Text 8"/>
          <p:cNvSpPr/>
          <p:nvPr/>
        </p:nvSpPr>
        <p:spPr>
          <a:xfrm>
            <a:off x="3744924" y="3264647"/>
            <a:ext cx="20700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Halves every 12 hours, so new stories win.</a:t>
            </a:r>
            <a:endParaRPr lang="en-US" sz="1200" dirty="0"/>
          </a:p>
        </p:txBody>
      </p:sp>
      <p:sp>
        <p:nvSpPr>
          <p:cNvPr id="11" name="Shape 9"/>
          <p:cNvSpPr/>
          <p:nvPr/>
        </p:nvSpPr>
        <p:spPr>
          <a:xfrm>
            <a:off x="6203961" y="2711227"/>
            <a:ext cx="2476523"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12" name="Text 10"/>
          <p:cNvSpPr/>
          <p:nvPr/>
        </p:nvSpPr>
        <p:spPr>
          <a:xfrm>
            <a:off x="6437371" y="2944639"/>
            <a:ext cx="2069996"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Popularity</a:t>
            </a:r>
            <a:endParaRPr lang="en-US" sz="1600" dirty="0"/>
          </a:p>
        </p:txBody>
      </p:sp>
      <p:sp>
        <p:nvSpPr>
          <p:cNvPr id="13" name="Text 11"/>
          <p:cNvSpPr/>
          <p:nvPr/>
        </p:nvSpPr>
        <p:spPr>
          <a:xfrm>
            <a:off x="6437371" y="3264647"/>
            <a:ext cx="20699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Upvotes on a log scale: a boost, not a takeover.</a:t>
            </a:r>
            <a:endParaRPr lang="en-US" sz="1200" dirty="0"/>
          </a:p>
        </p:txBody>
      </p:sp>
      <p:sp>
        <p:nvSpPr>
          <p:cNvPr id="14" name="Shape 12"/>
          <p:cNvSpPr/>
          <p:nvPr/>
        </p:nvSpPr>
        <p:spPr>
          <a:xfrm>
            <a:off x="8896349" y="2711227"/>
            <a:ext cx="2476523" cy="1213469"/>
          </a:xfrm>
          <a:prstGeom prst="roundRect">
            <a:avLst>
              <a:gd name="adj" fmla="val 7849"/>
            </a:avLst>
          </a:prstGeom>
          <a:solidFill>
            <a:srgbClr val="FDFCF9"/>
          </a:solidFill>
          <a:ln w="12700">
            <a:solidFill>
              <a:srgbClr val="E2DDD2"/>
            </a:solidFill>
            <a:prstDash val="solid"/>
          </a:ln>
        </p:spPr>
        <p:txBody>
          <a:bodyPr/>
          <a:lstStyle/>
          <a:p>
            <a:endParaRPr lang="en-US"/>
          </a:p>
        </p:txBody>
      </p:sp>
      <p:sp>
        <p:nvSpPr>
          <p:cNvPr id="15" name="Text 13"/>
          <p:cNvSpPr/>
          <p:nvPr/>
        </p:nvSpPr>
        <p:spPr>
          <a:xfrm>
            <a:off x="9129759" y="2944639"/>
            <a:ext cx="2069996"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Buzz</a:t>
            </a:r>
            <a:endParaRPr lang="en-US" sz="1600" dirty="0"/>
          </a:p>
        </p:txBody>
      </p:sp>
      <p:sp>
        <p:nvSpPr>
          <p:cNvPr id="16" name="Text 14"/>
          <p:cNvSpPr/>
          <p:nvPr/>
        </p:nvSpPr>
        <p:spPr>
          <a:xfrm>
            <a:off x="9129759" y="3264647"/>
            <a:ext cx="20699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×1.5 for each extra source covering the same story.</a:t>
            </a:r>
            <a:endParaRPr lang="en-US" sz="1200" dirty="0"/>
          </a:p>
        </p:txBody>
      </p:sp>
      <p:sp>
        <p:nvSpPr>
          <p:cNvPr id="17" name="Text 15"/>
          <p:cNvSpPr/>
          <p:nvPr/>
        </p:nvSpPr>
        <p:spPr>
          <a:xfrm>
            <a:off x="812777" y="6238289"/>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18" name="Text 16"/>
          <p:cNvSpPr/>
          <p:nvPr/>
        </p:nvSpPr>
        <p:spPr>
          <a:xfrm>
            <a:off x="10058422" y="623828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81"/>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PIPELINE</a:t>
            </a:r>
            <a:endParaRPr lang="en-US" sz="1200" dirty="0"/>
          </a:p>
        </p:txBody>
      </p:sp>
      <p:sp>
        <p:nvSpPr>
          <p:cNvPr id="3" name="Text 1"/>
          <p:cNvSpPr>
            <a:spLocks noGrp="1"/>
          </p:cNvSpPr>
          <p:nvPr>
            <p:ph type="title"/>
          </p:nvPr>
        </p:nvSpPr>
        <p:spPr>
          <a:xfrm>
            <a:off x="812777" y="1127652"/>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Ranking in practice</a:t>
            </a:r>
            <a:endParaRPr lang="en-US" sz="3600" dirty="0"/>
          </a:p>
        </p:txBody>
      </p:sp>
      <p:sp>
        <p:nvSpPr>
          <p:cNvPr id="4" name="Shape 2"/>
          <p:cNvSpPr/>
          <p:nvPr/>
        </p:nvSpPr>
        <p:spPr>
          <a:xfrm>
            <a:off x="11375989" y="1986130"/>
            <a:ext cx="0" cy="2152113"/>
          </a:xfrm>
          <a:prstGeom prst="line">
            <a:avLst/>
          </a:prstGeom>
          <a:noFill/>
          <a:ln w="6350">
            <a:solidFill>
              <a:srgbClr val="E2DDD2"/>
            </a:solidFill>
            <a:prstDash val="solid"/>
          </a:ln>
        </p:spPr>
        <p:txBody>
          <a:bodyPr/>
          <a:lstStyle/>
          <a:p>
            <a:endParaRPr lang="en-US"/>
          </a:p>
        </p:txBody>
      </p:sp>
      <p:sp>
        <p:nvSpPr>
          <p:cNvPr id="5" name="Shape 3"/>
          <p:cNvSpPr/>
          <p:nvPr/>
        </p:nvSpPr>
        <p:spPr>
          <a:xfrm>
            <a:off x="812777" y="4135068"/>
            <a:ext cx="10566388" cy="0"/>
          </a:xfrm>
          <a:prstGeom prst="line">
            <a:avLst/>
          </a:prstGeom>
          <a:noFill/>
          <a:ln w="6350">
            <a:solidFill>
              <a:srgbClr val="E2DDD2"/>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983" y="1997336"/>
          <a:ext cx="10551446" cy="2137172"/>
        </p:xfrm>
        <a:graphic>
          <a:graphicData uri="http://schemas.openxmlformats.org/drawingml/2006/table">
            <a:tbl>
              <a:tblPr/>
              <a:tblGrid>
                <a:gridCol w="3693006">
                  <a:extLst>
                    <a:ext uri="{9D8B030D-6E8A-4147-A177-3AD203B41FA5}">
                      <a16:colId xmlns:a16="http://schemas.microsoft.com/office/drawing/2014/main" val="20000"/>
                    </a:ext>
                  </a:extLst>
                </a:gridCol>
                <a:gridCol w="1371688">
                  <a:extLst>
                    <a:ext uri="{9D8B030D-6E8A-4147-A177-3AD203B41FA5}">
                      <a16:colId xmlns:a16="http://schemas.microsoft.com/office/drawing/2014/main" val="20001"/>
                    </a:ext>
                  </a:extLst>
                </a:gridCol>
                <a:gridCol w="1371688">
                  <a:extLst>
                    <a:ext uri="{9D8B030D-6E8A-4147-A177-3AD203B41FA5}">
                      <a16:colId xmlns:a16="http://schemas.microsoft.com/office/drawing/2014/main" val="20002"/>
                    </a:ext>
                  </a:extLst>
                </a:gridCol>
                <a:gridCol w="1371688">
                  <a:extLst>
                    <a:ext uri="{9D8B030D-6E8A-4147-A177-3AD203B41FA5}">
                      <a16:colId xmlns:a16="http://schemas.microsoft.com/office/drawing/2014/main" val="20003"/>
                    </a:ext>
                  </a:extLst>
                </a:gridCol>
                <a:gridCol w="1371688">
                  <a:extLst>
                    <a:ext uri="{9D8B030D-6E8A-4147-A177-3AD203B41FA5}">
                      <a16:colId xmlns:a16="http://schemas.microsoft.com/office/drawing/2014/main" val="20004"/>
                    </a:ext>
                  </a:extLst>
                </a:gridCol>
                <a:gridCol w="1371688">
                  <a:extLst>
                    <a:ext uri="{9D8B030D-6E8A-4147-A177-3AD203B41FA5}">
                      <a16:colId xmlns:a16="http://schemas.microsoft.com/office/drawing/2014/main" val="20005"/>
                    </a:ext>
                  </a:extLst>
                </a:gridCol>
              </a:tblGrid>
              <a:tr h="427633">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Story</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Relevance</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Freshness</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Popularity</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Buzz</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marL="0" indent="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Score</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640953">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Critical Docker vulnerability (3 sources, 2 h old, 300 points)</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0.90</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2.25</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18.2</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71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640953">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Rust 2.0 released (Hacker News, 20 h old, 800 points)</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0.31</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extLst>
                  <a:ext uri="{0D108BD9-81ED-4DB2-BD59-A6C34878D82A}">
                    <a16:rowId xmlns:a16="http://schemas.microsoft.com/office/drawing/2014/main" val="10002"/>
                  </a:ext>
                </a:extLst>
              </a:tr>
              <a:tr h="427633">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AI startup raises funding (TechCrunch, 3 h old)</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0.84</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181D"/>
                          </a:solidFill>
                          <a:latin typeface="IBM Plex Sans" pitchFamily="34" charset="0"/>
                          <a:ea typeface="IBM Plex Sans" pitchFamily="34" charset="-122"/>
                          <a:cs typeface="IBM Plex Sans" pitchFamily="34" charset="-120"/>
                        </a:rPr>
                        <a:t>0.84</a:t>
                      </a:r>
                      <a:endParaRPr lang="en-US" sz="1200" dirty="0">
                        <a:latin typeface="IBM Plex Sans" charset="0"/>
                        <a:ea typeface="IBM Plex Sans" charset="0"/>
                        <a:cs typeface="IBM Plex Sans" charset="0"/>
                      </a:endParaRPr>
                    </a:p>
                  </a:txBody>
                  <a:tcPr marL="127000" marR="127000" marT="101600" marB="1016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bl>
          </a:graphicData>
        </a:graphic>
      </p:graphicFrame>
      <p:sp>
        <p:nvSpPr>
          <p:cNvPr id="7" name="Text 4"/>
          <p:cNvSpPr/>
          <p:nvPr/>
        </p:nvSpPr>
        <p:spPr>
          <a:xfrm>
            <a:off x="812777" y="4493797"/>
            <a:ext cx="108834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Illustrative numbers. Sorted by upvotes alone, the 800-point Rust story would have beaten the Docker vulnerability.</a:t>
            </a:r>
            <a:endParaRPr lang="en-US" sz="1200" dirty="0"/>
          </a:p>
        </p:txBody>
      </p:sp>
      <p:sp>
        <p:nvSpPr>
          <p:cNvPr id="8" name="Text 5"/>
          <p:cNvSpPr/>
          <p:nvPr/>
        </p:nvSpPr>
        <p:spPr>
          <a:xfrm>
            <a:off x="812777" y="623829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9" name="Text 6"/>
          <p:cNvSpPr/>
          <p:nvPr/>
        </p:nvSpPr>
        <p:spPr>
          <a:xfrm>
            <a:off x="10058422"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77" y="812781"/>
            <a:ext cx="10883439"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8264B"/>
                </a:solidFill>
                <a:latin typeface="JetBrains Mono" pitchFamily="49" charset="0"/>
                <a:ea typeface="JetBrains Mono" pitchFamily="49" charset="-122"/>
                <a:cs typeface="JetBrains Mono" pitchFamily="49" charset="-120"/>
              </a:rPr>
              <a:t>THE PIPELINE</a:t>
            </a:r>
            <a:endParaRPr lang="en-US" sz="1200" dirty="0"/>
          </a:p>
        </p:txBody>
      </p:sp>
      <p:sp>
        <p:nvSpPr>
          <p:cNvPr id="3" name="Text 1"/>
          <p:cNvSpPr>
            <a:spLocks noGrp="1"/>
          </p:cNvSpPr>
          <p:nvPr>
            <p:ph type="title"/>
          </p:nvPr>
        </p:nvSpPr>
        <p:spPr>
          <a:xfrm>
            <a:off x="812777" y="1127652"/>
            <a:ext cx="10883439" cy="528322"/>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181D"/>
                </a:solidFill>
                <a:latin typeface="IBM Plex Sans" pitchFamily="34" charset="0"/>
                <a:ea typeface="IBM Plex Sans" pitchFamily="34" charset="-122"/>
                <a:cs typeface="IBM Plex Sans" pitchFamily="34" charset="-120"/>
              </a:rPr>
              <a:t>The LLM picks, the code formats</a:t>
            </a:r>
            <a:endParaRPr lang="en-US" sz="3600" dirty="0"/>
          </a:p>
        </p:txBody>
      </p:sp>
      <p:sp>
        <p:nvSpPr>
          <p:cNvPr id="4" name="Text 2"/>
          <p:cNvSpPr/>
          <p:nvPr/>
        </p:nvSpPr>
        <p:spPr>
          <a:xfrm>
            <a:off x="812777" y="1986130"/>
            <a:ext cx="4840030"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A free model via OpenRouter</a:t>
            </a:r>
            <a:endParaRPr lang="en-US" sz="1600" dirty="0"/>
          </a:p>
        </p:txBody>
      </p:sp>
      <p:sp>
        <p:nvSpPr>
          <p:cNvPr id="5" name="Text 3"/>
          <p:cNvSpPr/>
          <p:nvPr/>
        </p:nvSpPr>
        <p:spPr>
          <a:xfrm>
            <a:off x="812777" y="2280748"/>
            <a:ext cx="48400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openrouter/free picks a free model for each request.</a:t>
            </a:r>
            <a:endParaRPr lang="en-US" sz="1200" dirty="0"/>
          </a:p>
        </p:txBody>
      </p:sp>
      <p:sp>
        <p:nvSpPr>
          <p:cNvPr id="6" name="Text 4"/>
          <p:cNvSpPr/>
          <p:nvPr/>
        </p:nvSpPr>
        <p:spPr>
          <a:xfrm>
            <a:off x="812777" y="2697237"/>
            <a:ext cx="4840030"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Structured output only</a:t>
            </a:r>
            <a:endParaRPr lang="en-US" sz="1600" dirty="0"/>
          </a:p>
        </p:txBody>
      </p:sp>
      <p:sp>
        <p:nvSpPr>
          <p:cNvPr id="7" name="Text 5"/>
          <p:cNvSpPr/>
          <p:nvPr/>
        </p:nvSpPr>
        <p:spPr>
          <a:xfrm>
            <a:off x="812777" y="2991855"/>
            <a:ext cx="48400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It returns story ids and one-line summaries as JSON.</a:t>
            </a:r>
            <a:endParaRPr lang="en-US" sz="1200" dirty="0"/>
          </a:p>
        </p:txBody>
      </p:sp>
      <p:sp>
        <p:nvSpPr>
          <p:cNvPr id="8" name="Text 6"/>
          <p:cNvSpPr/>
          <p:nvPr/>
        </p:nvSpPr>
        <p:spPr>
          <a:xfrm>
            <a:off x="812777" y="3408344"/>
            <a:ext cx="4840030" cy="26924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181D"/>
                </a:solidFill>
                <a:latin typeface="IBM Plex Sans" pitchFamily="34" charset="0"/>
                <a:ea typeface="IBM Plex Sans" pitchFamily="34" charset="-122"/>
                <a:cs typeface="IBM Plex Sans" pitchFamily="34" charset="-120"/>
              </a:rPr>
              <a:t>Code builds the email</a:t>
            </a:r>
            <a:endParaRPr lang="en-US" sz="1600" dirty="0"/>
          </a:p>
        </p:txBody>
      </p:sp>
      <p:sp>
        <p:nvSpPr>
          <p:cNvPr id="9" name="Text 7"/>
          <p:cNvSpPr/>
          <p:nvPr/>
        </p:nvSpPr>
        <p:spPr>
          <a:xfrm>
            <a:off x="812777" y="3702962"/>
            <a:ext cx="48400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C"/>
                </a:solidFill>
                <a:latin typeface="IBM Plex Sans" pitchFamily="34" charset="0"/>
                <a:ea typeface="IBM Plex Sans" pitchFamily="34" charset="-122"/>
                <a:cs typeface="IBM Plex Sans" pitchFamily="34" charset="-120"/>
              </a:rPr>
              <a:t>Titles and links come from our own data. A bad reply falls back to a plain list.</a:t>
            </a:r>
            <a:endParaRPr lang="en-US" sz="1200" dirty="0"/>
          </a:p>
        </p:txBody>
      </p:sp>
      <p:sp>
        <p:nvSpPr>
          <p:cNvPr id="10" name="Shape 8"/>
          <p:cNvSpPr/>
          <p:nvPr/>
        </p:nvSpPr>
        <p:spPr>
          <a:xfrm>
            <a:off x="5918223" y="2003927"/>
            <a:ext cx="5461000" cy="2107873"/>
          </a:xfrm>
          <a:prstGeom prst="roundRect">
            <a:avLst>
              <a:gd name="adj" fmla="val 4820"/>
            </a:avLst>
          </a:prstGeom>
          <a:solidFill>
            <a:srgbClr val="16181D"/>
          </a:solidFill>
          <a:ln/>
        </p:spPr>
        <p:txBody>
          <a:bodyPr/>
          <a:lstStyle/>
          <a:p>
            <a:endParaRPr lang="en-US"/>
          </a:p>
        </p:txBody>
      </p:sp>
      <p:sp>
        <p:nvSpPr>
          <p:cNvPr id="11" name="Text 9"/>
          <p:cNvSpPr/>
          <p:nvPr/>
        </p:nvSpPr>
        <p:spPr>
          <a:xfrm>
            <a:off x="6172223" y="2257927"/>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8B909C"/>
                </a:solidFill>
                <a:latin typeface="JetBrains Mono" pitchFamily="49" charset="0"/>
                <a:ea typeface="JetBrains Mono" pitchFamily="49" charset="-122"/>
                <a:cs typeface="JetBrains Mono" pitchFamily="49" charset="-120"/>
              </a:rPr>
              <a:t>// The model returns only this:</a:t>
            </a:r>
            <a:endParaRPr lang="en-US" sz="1200" dirty="0"/>
          </a:p>
        </p:txBody>
      </p:sp>
      <p:sp>
        <p:nvSpPr>
          <p:cNvPr id="12" name="Text 10"/>
          <p:cNvSpPr/>
          <p:nvPr/>
        </p:nvSpPr>
        <p:spPr>
          <a:xfrm>
            <a:off x="6172223" y="2486484"/>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6172223" y="2715034"/>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  { "id": 3,</a:t>
            </a:r>
            <a:endParaRPr lang="en-US" sz="1200" dirty="0"/>
          </a:p>
        </p:txBody>
      </p:sp>
      <p:sp>
        <p:nvSpPr>
          <p:cNvPr id="14" name="Text 12"/>
          <p:cNvSpPr/>
          <p:nvPr/>
        </p:nvSpPr>
        <p:spPr>
          <a:xfrm>
            <a:off x="6172223" y="2943591"/>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    "summary": "Patch now: actively exploited." },</a:t>
            </a:r>
            <a:endParaRPr lang="en-US" sz="1200" dirty="0"/>
          </a:p>
        </p:txBody>
      </p:sp>
      <p:sp>
        <p:nvSpPr>
          <p:cNvPr id="15" name="Text 13"/>
          <p:cNvSpPr/>
          <p:nvPr/>
        </p:nvSpPr>
        <p:spPr>
          <a:xfrm>
            <a:off x="6172223" y="3172141"/>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  { "id": 7,</a:t>
            </a:r>
            <a:endParaRPr lang="en-US" sz="1200" dirty="0"/>
          </a:p>
        </p:txBody>
      </p:sp>
      <p:sp>
        <p:nvSpPr>
          <p:cNvPr id="16" name="Text 14"/>
          <p:cNvSpPr/>
          <p:nvPr/>
        </p:nvSpPr>
        <p:spPr>
          <a:xfrm>
            <a:off x="6172223" y="3400698"/>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    "summary": "A faster linker for Rust builds." }</a:t>
            </a:r>
            <a:endParaRPr lang="en-US" sz="1200" dirty="0"/>
          </a:p>
        </p:txBody>
      </p:sp>
      <p:sp>
        <p:nvSpPr>
          <p:cNvPr id="17" name="Text 15"/>
          <p:cNvSpPr/>
          <p:nvPr/>
        </p:nvSpPr>
        <p:spPr>
          <a:xfrm>
            <a:off x="6172223" y="3629248"/>
            <a:ext cx="5101590" cy="253953"/>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6F4EF"/>
                </a:solidFill>
                <a:latin typeface="JetBrains Mono" pitchFamily="49" charset="0"/>
                <a:ea typeface="JetBrains Mono" pitchFamily="49" charset="-122"/>
                <a:cs typeface="JetBrains Mono" pitchFamily="49" charset="-120"/>
              </a:rPr>
              <a:t>]</a:t>
            </a:r>
            <a:endParaRPr lang="en-US" sz="1200" dirty="0"/>
          </a:p>
        </p:txBody>
      </p:sp>
      <p:sp>
        <p:nvSpPr>
          <p:cNvPr id="18" name="Text 16"/>
          <p:cNvSpPr/>
          <p:nvPr/>
        </p:nvSpPr>
        <p:spPr>
          <a:xfrm>
            <a:off x="812777" y="623829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F6B"/>
                </a:solidFill>
                <a:latin typeface="IBM Plex Sans" pitchFamily="34" charset="0"/>
                <a:ea typeface="IBM Plex Sans" pitchFamily="34" charset="-122"/>
                <a:cs typeface="IBM Plex Sans" pitchFamily="34" charset="-120"/>
              </a:rPr>
              <a:t>n8n for developers</a:t>
            </a:r>
            <a:endParaRPr lang="en-US" sz="1200" dirty="0"/>
          </a:p>
        </p:txBody>
      </p:sp>
      <p:sp>
        <p:nvSpPr>
          <p:cNvPr id="19" name="Text 17"/>
          <p:cNvSpPr/>
          <p:nvPr/>
        </p:nvSpPr>
        <p:spPr>
          <a:xfrm>
            <a:off x="10058422"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F6B"/>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16181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2437166"/>
            <a:ext cx="10883439" cy="825453"/>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IBM Plex Sans" pitchFamily="34" charset="0"/>
                <a:ea typeface="IBM Plex Sans" pitchFamily="34" charset="-122"/>
                <a:cs typeface="IBM Plex Sans" pitchFamily="34" charset="-120"/>
              </a:rPr>
              <a:t>Questions?</a:t>
            </a:r>
            <a:endParaRPr lang="en-US" sz="6000" dirty="0"/>
          </a:p>
        </p:txBody>
      </p:sp>
      <p:sp>
        <p:nvSpPr>
          <p:cNvPr id="3" name="Text 1"/>
          <p:cNvSpPr/>
          <p:nvPr/>
        </p:nvSpPr>
        <p:spPr>
          <a:xfrm>
            <a:off x="812777" y="3491216"/>
            <a:ext cx="10883439" cy="416497"/>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3C7D1"/>
                </a:solidFill>
                <a:latin typeface="IBM Plex Sans" pitchFamily="34" charset="0"/>
                <a:ea typeface="IBM Plex Sans" pitchFamily="34" charset="-122"/>
                <a:cs typeface="IBM Plex Sans" pitchFamily="34" charset="-120"/>
              </a:rPr>
              <a:t>Oktay Alizada</a:t>
            </a:r>
            <a:endParaRPr lang="en-US" sz="2200" dirty="0"/>
          </a:p>
        </p:txBody>
      </p:sp>
      <p:sp>
        <p:nvSpPr>
          <p:cNvPr id="4" name="Text 2"/>
          <p:cNvSpPr/>
          <p:nvPr/>
        </p:nvSpPr>
        <p:spPr>
          <a:xfrm>
            <a:off x="812777" y="4136312"/>
            <a:ext cx="10883439" cy="30986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A4B71"/>
                </a:solidFill>
                <a:latin typeface="JetBrains Mono" pitchFamily="49" charset="0"/>
                <a:ea typeface="JetBrains Mono" pitchFamily="49" charset="-122"/>
                <a:cs typeface="JetBrains Mono" pitchFamily="49" charset="-120"/>
              </a:rPr>
              <a:t>github.com/oktant</a:t>
            </a:r>
            <a:endParaRPr lang="en-US" sz="1600" dirty="0"/>
          </a:p>
        </p:txBody>
      </p:sp>
    </p:spTree>
  </p:cSld>
  <p:clrMapOvr>
    <a:masterClrMapping/>
  </p:clrMapOvr>
</p:sld>
</file>

<file path=ppt/theme/theme1.xml><?xml version="1.0" encoding="utf-8"?>
<a:theme xmlns:a="http://schemas.openxmlformats.org/drawingml/2006/main" name="n8n: Workflow Automation for Developers">
  <a:themeElements>
    <a:clrScheme name="n8n: Workflow Automation for Developers">
      <a:dk1>
        <a:srgbClr val="16181D"/>
      </a:dk1>
      <a:lt1>
        <a:srgbClr val="F6F4EF"/>
      </a:lt1>
      <a:dk2>
        <a:srgbClr val="4E4F52"/>
      </a:dk2>
      <a:lt2>
        <a:srgbClr val="E0DEDA"/>
      </a:lt2>
      <a:accent1>
        <a:srgbClr val="B8264B"/>
      </a:accent1>
      <a:accent2>
        <a:srgbClr val="EA4B71"/>
      </a:accent2>
      <a:accent3>
        <a:srgbClr val="4A4F5C"/>
      </a:accent3>
      <a:accent4>
        <a:srgbClr val="5A5F6B"/>
      </a:accent4>
      <a:accent5>
        <a:srgbClr val="C3C7D1"/>
      </a:accent5>
      <a:accent6>
        <a:srgbClr val="8B909C"/>
      </a:accent6>
      <a:hlink>
        <a:srgbClr val="0563C1"/>
      </a:hlink>
      <a:folHlink>
        <a:srgbClr val="954F72"/>
      </a:folHlink>
    </a:clrScheme>
    <a:fontScheme name="n8n: Workflow Automation for Developer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2879</TotalTime>
  <Words>1173</Words>
  <Application>Microsoft Macintosh PowerPoint</Application>
  <PresentationFormat>Widescreen</PresentationFormat>
  <Paragraphs>181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IBM Plex Sans</vt:lpstr>
      <vt:lpstr>JetBrains Mono</vt:lpstr>
      <vt:lpstr>n8n: Workflow Automation for Developers</vt:lpstr>
      <vt:lpstr>n8n for developers</vt:lpstr>
      <vt:lpstr>What n8n is</vt:lpstr>
      <vt:lpstr>Five core concepts</vt:lpstr>
      <vt:lpstr>Why developers like it</vt:lpstr>
      <vt:lpstr>A daily tech-news digest</vt:lpstr>
      <vt:lpstr>How the workflow runs</vt:lpstr>
      <vt:lpstr>Five sources, two ways in</vt:lpstr>
      <vt:lpstr>Ranking: four signals, multiplied</vt:lpstr>
      <vt:lpstr>Ranking in practice</vt:lpstr>
      <vt:lpstr>The LLM picks, the code formats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n8n: Workflow Automation for Developers</dc:title>
  <dc:subject/>
  <dc:creator/>
  <cp:lastModifiedBy>Oktay Alizada (Contractor)</cp:lastModifiedBy>
  <cp:revision>2</cp:revision>
  <dcterms:created xsi:type="dcterms:W3CDTF">2026-10-05T20:33:41Z</dcterms:created>
  <dcterms:modified xsi:type="dcterms:W3CDTF">2026-10-07T21:00:28Z</dcterms:modified>
</cp:coreProperties>
</file>